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3" r:id="rId6"/>
    <p:sldId id="261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 autoAdjust="0"/>
    <p:restoredTop sz="94674"/>
  </p:normalViewPr>
  <p:slideViewPr>
    <p:cSldViewPr snapToGrid="0">
      <p:cViewPr varScale="1">
        <p:scale>
          <a:sx n="102" d="100"/>
          <a:sy n="102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4E0F28-223D-4580-85FC-9ADC0089943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0539D6-EE0C-4D51-9955-519259A8A583}">
      <dgm:prSet custT="1"/>
      <dgm:spPr/>
      <dgm:t>
        <a:bodyPr/>
        <a:lstStyle/>
        <a:p>
          <a:r>
            <a:rPr lang="en-US" sz="1000" b="1" i="0" baseline="0" dirty="0"/>
            <a:t>Primary Objective:</a:t>
          </a:r>
          <a:br>
            <a:rPr lang="en-US" sz="1000" b="0" i="0" baseline="0" dirty="0"/>
          </a:br>
          <a:r>
            <a:rPr lang="en-US" sz="1000" b="0" i="0" baseline="0" dirty="0"/>
            <a:t>Identify and categorize critical alerts from thousands </a:t>
          </a:r>
          <a:r>
            <a:rPr lang="en-US" sz="1000" b="0" i="0" baseline="0" dirty="0">
              <a:latin typeface="Abadi" panose="020B0604020104020204" pitchFamily="34" charset="0"/>
            </a:rPr>
            <a:t>generated</a:t>
          </a:r>
          <a:r>
            <a:rPr lang="en-US" sz="1000" b="0" i="0" baseline="0" dirty="0"/>
            <a:t> by integration systems like MuleSoft and BULK API using </a:t>
          </a:r>
          <a:r>
            <a:rPr lang="en-US" sz="1000" b="1" i="0" baseline="0" dirty="0"/>
            <a:t>K Means clustering</a:t>
          </a:r>
          <a:r>
            <a:rPr lang="en-US" sz="1000" b="0" i="0" baseline="0" dirty="0"/>
            <a:t>.</a:t>
          </a:r>
          <a:endParaRPr lang="en-US" sz="1000" dirty="0"/>
        </a:p>
      </dgm:t>
    </dgm:pt>
    <dgm:pt modelId="{BB20A521-05E4-461F-8BF9-700F77959AFF}" type="parTrans" cxnId="{E7B0141C-E30F-49B0-9BDF-97323EA81689}">
      <dgm:prSet/>
      <dgm:spPr/>
      <dgm:t>
        <a:bodyPr/>
        <a:lstStyle/>
        <a:p>
          <a:endParaRPr lang="en-US"/>
        </a:p>
      </dgm:t>
    </dgm:pt>
    <dgm:pt modelId="{E7A5C53C-4E06-46BA-BAA2-273FBFD63D17}" type="sibTrans" cxnId="{E7B0141C-E30F-49B0-9BDF-97323EA81689}">
      <dgm:prSet/>
      <dgm:spPr/>
      <dgm:t>
        <a:bodyPr/>
        <a:lstStyle/>
        <a:p>
          <a:endParaRPr lang="en-US"/>
        </a:p>
      </dgm:t>
    </dgm:pt>
    <dgm:pt modelId="{6B276C85-1781-4D90-B78A-00A726D5E5B1}">
      <dgm:prSet/>
      <dgm:spPr/>
      <dgm:t>
        <a:bodyPr/>
        <a:lstStyle/>
        <a:p>
          <a:r>
            <a:rPr lang="en-US" b="1" i="0" baseline="0" dirty="0"/>
            <a:t>Key Steps</a:t>
          </a:r>
          <a:endParaRPr lang="en-US" dirty="0"/>
        </a:p>
      </dgm:t>
    </dgm:pt>
    <dgm:pt modelId="{9A4D14C5-2E61-4A2D-B5E1-204DEDCD57B4}" type="parTrans" cxnId="{34F28E92-81ED-4456-8555-1663178F29F2}">
      <dgm:prSet/>
      <dgm:spPr/>
      <dgm:t>
        <a:bodyPr/>
        <a:lstStyle/>
        <a:p>
          <a:endParaRPr lang="en-US"/>
        </a:p>
      </dgm:t>
    </dgm:pt>
    <dgm:pt modelId="{7B72FC06-E575-4BE4-92AD-3DCD79110A8B}" type="sibTrans" cxnId="{34F28E92-81ED-4456-8555-1663178F29F2}">
      <dgm:prSet/>
      <dgm:spPr/>
      <dgm:t>
        <a:bodyPr/>
        <a:lstStyle/>
        <a:p>
          <a:endParaRPr lang="en-US"/>
        </a:p>
      </dgm:t>
    </dgm:pt>
    <dgm:pt modelId="{B784C40E-3A0A-4725-93CB-4A254D34952E}">
      <dgm:prSet/>
      <dgm:spPr/>
      <dgm:t>
        <a:bodyPr/>
        <a:lstStyle/>
        <a:p>
          <a:r>
            <a:rPr lang="en-US" b="1" i="0" baseline="0" dirty="0"/>
            <a:t>Data Analysis:</a:t>
          </a:r>
          <a:r>
            <a:rPr lang="en-US" b="0" i="0" baseline="0" dirty="0"/>
            <a:t> </a:t>
          </a:r>
          <a:r>
            <a:rPr lang="en-US" b="0" i="0" baseline="0" dirty="0">
              <a:latin typeface="Abadi" panose="020B0604020104020204" pitchFamily="34" charset="0"/>
            </a:rPr>
            <a:t>Identify alerts requiring immediate attention.</a:t>
          </a:r>
          <a:endParaRPr lang="en-US" dirty="0">
            <a:latin typeface="Abadi" panose="020B0604020104020204" pitchFamily="34" charset="0"/>
          </a:endParaRPr>
        </a:p>
      </dgm:t>
    </dgm:pt>
    <dgm:pt modelId="{44E6F8B6-7A9E-4398-B246-A3A309D07632}" type="parTrans" cxnId="{B2870264-245D-4D47-A090-9E320D6FBF54}">
      <dgm:prSet/>
      <dgm:spPr/>
      <dgm:t>
        <a:bodyPr/>
        <a:lstStyle/>
        <a:p>
          <a:endParaRPr lang="en-US"/>
        </a:p>
      </dgm:t>
    </dgm:pt>
    <dgm:pt modelId="{5DDE31F2-D148-46FF-B6C7-47F2462B5836}" type="sibTrans" cxnId="{B2870264-245D-4D47-A090-9E320D6FBF54}">
      <dgm:prSet/>
      <dgm:spPr/>
      <dgm:t>
        <a:bodyPr/>
        <a:lstStyle/>
        <a:p>
          <a:endParaRPr lang="en-US"/>
        </a:p>
      </dgm:t>
    </dgm:pt>
    <dgm:pt modelId="{B37EDFBB-B0C9-4AA8-89D2-F8233B3CC8FD}">
      <dgm:prSet/>
      <dgm:spPr/>
      <dgm:t>
        <a:bodyPr/>
        <a:lstStyle/>
        <a:p>
          <a:r>
            <a:rPr lang="en-US" b="1" i="0" baseline="0" dirty="0"/>
            <a:t>Clustering:</a:t>
          </a:r>
          <a:r>
            <a:rPr lang="en-US" b="0" i="0" baseline="0" dirty="0"/>
            <a:t> </a:t>
          </a:r>
          <a:r>
            <a:rPr lang="en-US" b="0" i="0" baseline="0" dirty="0">
              <a:latin typeface="Abadi" panose="020B0604020104020204" pitchFamily="34" charset="0"/>
            </a:rPr>
            <a:t>Use K Means clustering to group alerts into meaningful patterns.</a:t>
          </a:r>
          <a:endParaRPr lang="en-US" dirty="0">
            <a:latin typeface="Abadi" panose="020B0604020104020204" pitchFamily="34" charset="0"/>
          </a:endParaRPr>
        </a:p>
      </dgm:t>
    </dgm:pt>
    <dgm:pt modelId="{DE383818-C5AC-4568-941D-1C202B1084A4}" type="parTrans" cxnId="{F9B47B43-E65B-4D13-A54E-02292A45CAFD}">
      <dgm:prSet/>
      <dgm:spPr/>
      <dgm:t>
        <a:bodyPr/>
        <a:lstStyle/>
        <a:p>
          <a:endParaRPr lang="en-US"/>
        </a:p>
      </dgm:t>
    </dgm:pt>
    <dgm:pt modelId="{BB61A3E0-1A89-4CAE-BCB1-A679738D9339}" type="sibTrans" cxnId="{F9B47B43-E65B-4D13-A54E-02292A45CAFD}">
      <dgm:prSet/>
      <dgm:spPr/>
      <dgm:t>
        <a:bodyPr/>
        <a:lstStyle/>
        <a:p>
          <a:endParaRPr lang="en-US"/>
        </a:p>
      </dgm:t>
    </dgm:pt>
    <dgm:pt modelId="{A6738AA0-0AD8-4ADE-93DD-59177E586AAE}">
      <dgm:prSet/>
      <dgm:spPr/>
      <dgm:t>
        <a:bodyPr/>
        <a:lstStyle/>
        <a:p>
          <a:r>
            <a:rPr lang="en-US" b="1" i="0" baseline="0" dirty="0"/>
            <a:t>Visualization:</a:t>
          </a:r>
          <a:r>
            <a:rPr lang="en-US" b="0" i="0" baseline="0" dirty="0"/>
            <a:t> </a:t>
          </a:r>
          <a:r>
            <a:rPr lang="en-US" b="0" i="0" baseline="0" dirty="0">
              <a:latin typeface="Abadi" panose="020B0604020104020204" pitchFamily="34" charset="0"/>
            </a:rPr>
            <a:t>Create Charts &amp; dashboards for interactive insights.</a:t>
          </a:r>
          <a:endParaRPr lang="en-US" dirty="0">
            <a:latin typeface="Abadi" panose="020B0604020104020204" pitchFamily="34" charset="0"/>
          </a:endParaRPr>
        </a:p>
      </dgm:t>
    </dgm:pt>
    <dgm:pt modelId="{89258B55-85E4-4F9B-B201-B308C0794B32}" type="parTrans" cxnId="{CFC2841E-4C06-4802-9FE4-E741BE0455FB}">
      <dgm:prSet/>
      <dgm:spPr/>
      <dgm:t>
        <a:bodyPr/>
        <a:lstStyle/>
        <a:p>
          <a:endParaRPr lang="en-US"/>
        </a:p>
      </dgm:t>
    </dgm:pt>
    <dgm:pt modelId="{C0F06366-3222-4D91-9FD1-D6DFF80EDC5E}" type="sibTrans" cxnId="{CFC2841E-4C06-4802-9FE4-E741BE0455FB}">
      <dgm:prSet/>
      <dgm:spPr/>
      <dgm:t>
        <a:bodyPr/>
        <a:lstStyle/>
        <a:p>
          <a:endParaRPr lang="en-US"/>
        </a:p>
      </dgm:t>
    </dgm:pt>
    <dgm:pt modelId="{4EDCD1AF-A3F0-4C5A-B73A-15BB7D111999}">
      <dgm:prSet/>
      <dgm:spPr/>
      <dgm:t>
        <a:bodyPr/>
        <a:lstStyle/>
        <a:p>
          <a:r>
            <a:rPr lang="en-US" b="1" i="0" baseline="0" dirty="0"/>
            <a:t>Actionable Insights:</a:t>
          </a:r>
          <a:r>
            <a:rPr lang="en-US" b="0" i="0" baseline="0" dirty="0"/>
            <a:t> </a:t>
          </a:r>
          <a:r>
            <a:rPr lang="en-US" b="0" i="0" baseline="0" dirty="0">
              <a:latin typeface="Abadi" panose="020B0604020104020204" pitchFamily="34" charset="0"/>
            </a:rPr>
            <a:t>Provide clear, data-driven recommendations.</a:t>
          </a:r>
          <a:endParaRPr lang="en-US" dirty="0">
            <a:latin typeface="Abadi" panose="020B0604020104020204" pitchFamily="34" charset="0"/>
          </a:endParaRPr>
        </a:p>
      </dgm:t>
    </dgm:pt>
    <dgm:pt modelId="{D62B1760-44B0-434C-BA47-0492A3B3B186}" type="parTrans" cxnId="{A0C7E5B6-0864-4953-BB5A-E7FA955917A9}">
      <dgm:prSet/>
      <dgm:spPr/>
      <dgm:t>
        <a:bodyPr/>
        <a:lstStyle/>
        <a:p>
          <a:endParaRPr lang="en-US"/>
        </a:p>
      </dgm:t>
    </dgm:pt>
    <dgm:pt modelId="{1495ACB4-6F43-4DD0-95AD-FE24DF00AD29}" type="sibTrans" cxnId="{A0C7E5B6-0864-4953-BB5A-E7FA955917A9}">
      <dgm:prSet/>
      <dgm:spPr/>
      <dgm:t>
        <a:bodyPr/>
        <a:lstStyle/>
        <a:p>
          <a:endParaRPr lang="en-US"/>
        </a:p>
      </dgm:t>
    </dgm:pt>
    <dgm:pt modelId="{6A2CEFA6-C92D-4432-8CC6-24E6D6A0028F}">
      <dgm:prSet/>
      <dgm:spPr/>
      <dgm:t>
        <a:bodyPr/>
        <a:lstStyle/>
        <a:p>
          <a:r>
            <a:rPr lang="en-US" b="1" i="0" baseline="0" dirty="0"/>
            <a:t>Efficiency Improvement:</a:t>
          </a:r>
          <a:r>
            <a:rPr lang="en-US" b="0" i="0" baseline="0" dirty="0"/>
            <a:t> </a:t>
          </a:r>
          <a:r>
            <a:rPr lang="en-US" b="0" i="0" baseline="0" dirty="0">
              <a:latin typeface="Abadi" panose="020B0604020104020204" pitchFamily="34" charset="0"/>
            </a:rPr>
            <a:t>Address root causes of alerts and streamline processes.</a:t>
          </a:r>
          <a:endParaRPr lang="en-US" dirty="0">
            <a:latin typeface="Abadi" panose="020B0604020104020204" pitchFamily="34" charset="0"/>
          </a:endParaRPr>
        </a:p>
      </dgm:t>
    </dgm:pt>
    <dgm:pt modelId="{BCE9DF01-3BE6-4F76-BC13-4D47E5127D81}" type="parTrans" cxnId="{D9F3CD6C-C327-4F7B-8298-ECFA20CB5AFB}">
      <dgm:prSet/>
      <dgm:spPr/>
      <dgm:t>
        <a:bodyPr/>
        <a:lstStyle/>
        <a:p>
          <a:endParaRPr lang="en-US"/>
        </a:p>
      </dgm:t>
    </dgm:pt>
    <dgm:pt modelId="{17DB2ED4-338D-4A31-8977-C8B6F72F4020}" type="sibTrans" cxnId="{D9F3CD6C-C327-4F7B-8298-ECFA20CB5AFB}">
      <dgm:prSet/>
      <dgm:spPr/>
      <dgm:t>
        <a:bodyPr/>
        <a:lstStyle/>
        <a:p>
          <a:endParaRPr lang="en-US"/>
        </a:p>
      </dgm:t>
    </dgm:pt>
    <dgm:pt modelId="{CF50945A-39AC-4CEC-939D-44B5E9FE4F7B}">
      <dgm:prSet/>
      <dgm:spPr/>
      <dgm:t>
        <a:bodyPr/>
        <a:lstStyle/>
        <a:p>
          <a:r>
            <a:rPr lang="en-US" b="1" i="0" baseline="0" dirty="0"/>
            <a:t>Productivity Enhancement:</a:t>
          </a:r>
          <a:r>
            <a:rPr lang="en-US" b="0" i="0" baseline="0" dirty="0"/>
            <a:t> </a:t>
          </a:r>
          <a:r>
            <a:rPr lang="en-US" b="0" i="0" baseline="0" dirty="0">
              <a:latin typeface="Abadi" panose="020B0604020104020204" pitchFamily="34" charset="0"/>
            </a:rPr>
            <a:t>Focus resources on high-priority issues to improve integration reliability.</a:t>
          </a:r>
          <a:endParaRPr lang="en-US" dirty="0">
            <a:latin typeface="Abadi" panose="020B0604020104020204" pitchFamily="34" charset="0"/>
          </a:endParaRPr>
        </a:p>
      </dgm:t>
    </dgm:pt>
    <dgm:pt modelId="{E65E754A-6A01-4E97-8356-2281C7E79CD7}" type="parTrans" cxnId="{C43C5481-3387-4523-B000-F116CCB1FBEF}">
      <dgm:prSet/>
      <dgm:spPr/>
      <dgm:t>
        <a:bodyPr/>
        <a:lstStyle/>
        <a:p>
          <a:endParaRPr lang="en-US"/>
        </a:p>
      </dgm:t>
    </dgm:pt>
    <dgm:pt modelId="{B2DB23E4-AB6F-4D34-AE7C-7D86377D755E}" type="sibTrans" cxnId="{C43C5481-3387-4523-B000-F116CCB1FBEF}">
      <dgm:prSet/>
      <dgm:spPr/>
      <dgm:t>
        <a:bodyPr/>
        <a:lstStyle/>
        <a:p>
          <a:endParaRPr lang="en-US"/>
        </a:p>
      </dgm:t>
    </dgm:pt>
    <dgm:pt modelId="{0F09B246-76C2-42E4-9B53-EBE35BEEAC56}">
      <dgm:prSet/>
      <dgm:spPr/>
      <dgm:t>
        <a:bodyPr/>
        <a:lstStyle/>
        <a:p>
          <a:r>
            <a:rPr lang="en-US" b="1" i="0" baseline="0" dirty="0"/>
            <a:t>SMART Goal:</a:t>
          </a:r>
          <a:br>
            <a:rPr lang="en-US" b="0" i="0" baseline="0" dirty="0"/>
          </a:br>
          <a:r>
            <a:rPr lang="en-US" b="0" i="0" baseline="0" dirty="0">
              <a:latin typeface="Abadi" panose="020B0604020104020204" pitchFamily="34" charset="0"/>
            </a:rPr>
            <a:t>Specific, Measurable, Achievable, Relevant, Time-bound.</a:t>
          </a:r>
          <a:endParaRPr lang="en-US" dirty="0">
            <a:latin typeface="Abadi" panose="020B0604020104020204" pitchFamily="34" charset="0"/>
          </a:endParaRPr>
        </a:p>
      </dgm:t>
    </dgm:pt>
    <dgm:pt modelId="{986C1355-D9EB-4C67-A45E-51563CB7393C}" type="parTrans" cxnId="{738A91E1-99AF-42C9-93CB-BA4098176FAA}">
      <dgm:prSet/>
      <dgm:spPr/>
      <dgm:t>
        <a:bodyPr/>
        <a:lstStyle/>
        <a:p>
          <a:endParaRPr lang="en-US"/>
        </a:p>
      </dgm:t>
    </dgm:pt>
    <dgm:pt modelId="{0C55934B-9070-4F30-9EA8-F1A5FE109143}" type="sibTrans" cxnId="{738A91E1-99AF-42C9-93CB-BA4098176FAA}">
      <dgm:prSet/>
      <dgm:spPr/>
      <dgm:t>
        <a:bodyPr/>
        <a:lstStyle/>
        <a:p>
          <a:endParaRPr lang="en-US"/>
        </a:p>
      </dgm:t>
    </dgm:pt>
    <dgm:pt modelId="{7E6D67FE-4E38-499A-B7B3-51E613412E9D}" type="pres">
      <dgm:prSet presAssocID="{7F4E0F28-223D-4580-85FC-9ADC00899435}" presName="Name0" presStyleCnt="0">
        <dgm:presLayoutVars>
          <dgm:dir/>
          <dgm:resizeHandles val="exact"/>
        </dgm:presLayoutVars>
      </dgm:prSet>
      <dgm:spPr/>
    </dgm:pt>
    <dgm:pt modelId="{6DEEE660-ED2D-4B76-B23E-A0DB8911B7C5}" type="pres">
      <dgm:prSet presAssocID="{ED0539D6-EE0C-4D51-9955-519259A8A583}" presName="node" presStyleLbl="node1" presStyleIdx="0" presStyleCnt="9">
        <dgm:presLayoutVars>
          <dgm:bulletEnabled val="1"/>
        </dgm:presLayoutVars>
      </dgm:prSet>
      <dgm:spPr/>
    </dgm:pt>
    <dgm:pt modelId="{C1ED0CC0-E88E-4736-9664-4472E8D3CCEF}" type="pres">
      <dgm:prSet presAssocID="{E7A5C53C-4E06-46BA-BAA2-273FBFD63D17}" presName="sibTrans" presStyleLbl="sibTrans1D1" presStyleIdx="0" presStyleCnt="8"/>
      <dgm:spPr/>
    </dgm:pt>
    <dgm:pt modelId="{C19B0F04-4283-4F7C-8E7C-97C764C8D13F}" type="pres">
      <dgm:prSet presAssocID="{E7A5C53C-4E06-46BA-BAA2-273FBFD63D17}" presName="connectorText" presStyleLbl="sibTrans1D1" presStyleIdx="0" presStyleCnt="8"/>
      <dgm:spPr/>
    </dgm:pt>
    <dgm:pt modelId="{C8487E6D-019F-4986-95AF-E9FEE25B80CD}" type="pres">
      <dgm:prSet presAssocID="{6B276C85-1781-4D90-B78A-00A726D5E5B1}" presName="node" presStyleLbl="node1" presStyleIdx="1" presStyleCnt="9">
        <dgm:presLayoutVars>
          <dgm:bulletEnabled val="1"/>
        </dgm:presLayoutVars>
      </dgm:prSet>
      <dgm:spPr/>
    </dgm:pt>
    <dgm:pt modelId="{C51CCD28-D670-4E69-A5CB-A8CB353700FB}" type="pres">
      <dgm:prSet presAssocID="{7B72FC06-E575-4BE4-92AD-3DCD79110A8B}" presName="sibTrans" presStyleLbl="sibTrans1D1" presStyleIdx="1" presStyleCnt="8"/>
      <dgm:spPr/>
    </dgm:pt>
    <dgm:pt modelId="{7A70860E-83F6-4414-9BF3-CB47F1A46A2C}" type="pres">
      <dgm:prSet presAssocID="{7B72FC06-E575-4BE4-92AD-3DCD79110A8B}" presName="connectorText" presStyleLbl="sibTrans1D1" presStyleIdx="1" presStyleCnt="8"/>
      <dgm:spPr/>
    </dgm:pt>
    <dgm:pt modelId="{6A4B597E-E514-47FD-BC4F-23D3B0BC5D46}" type="pres">
      <dgm:prSet presAssocID="{B784C40E-3A0A-4725-93CB-4A254D34952E}" presName="node" presStyleLbl="node1" presStyleIdx="2" presStyleCnt="9">
        <dgm:presLayoutVars>
          <dgm:bulletEnabled val="1"/>
        </dgm:presLayoutVars>
      </dgm:prSet>
      <dgm:spPr/>
    </dgm:pt>
    <dgm:pt modelId="{82540BEF-1285-4147-B4DC-588943FE474E}" type="pres">
      <dgm:prSet presAssocID="{5DDE31F2-D148-46FF-B6C7-47F2462B5836}" presName="sibTrans" presStyleLbl="sibTrans1D1" presStyleIdx="2" presStyleCnt="8"/>
      <dgm:spPr/>
    </dgm:pt>
    <dgm:pt modelId="{8F40E4CF-067A-40E1-A049-BBE578866759}" type="pres">
      <dgm:prSet presAssocID="{5DDE31F2-D148-46FF-B6C7-47F2462B5836}" presName="connectorText" presStyleLbl="sibTrans1D1" presStyleIdx="2" presStyleCnt="8"/>
      <dgm:spPr/>
    </dgm:pt>
    <dgm:pt modelId="{934460FD-AC36-438C-B0E1-92B3DA707BFC}" type="pres">
      <dgm:prSet presAssocID="{B37EDFBB-B0C9-4AA8-89D2-F8233B3CC8FD}" presName="node" presStyleLbl="node1" presStyleIdx="3" presStyleCnt="9">
        <dgm:presLayoutVars>
          <dgm:bulletEnabled val="1"/>
        </dgm:presLayoutVars>
      </dgm:prSet>
      <dgm:spPr/>
    </dgm:pt>
    <dgm:pt modelId="{BC6AD157-6512-44B0-A548-A80F3E79DEFF}" type="pres">
      <dgm:prSet presAssocID="{BB61A3E0-1A89-4CAE-BCB1-A679738D9339}" presName="sibTrans" presStyleLbl="sibTrans1D1" presStyleIdx="3" presStyleCnt="8"/>
      <dgm:spPr/>
    </dgm:pt>
    <dgm:pt modelId="{688DB2D3-72A3-49C3-9008-CEDD2722BCDA}" type="pres">
      <dgm:prSet presAssocID="{BB61A3E0-1A89-4CAE-BCB1-A679738D9339}" presName="connectorText" presStyleLbl="sibTrans1D1" presStyleIdx="3" presStyleCnt="8"/>
      <dgm:spPr/>
    </dgm:pt>
    <dgm:pt modelId="{945A4E33-7BF3-47DD-B44A-1EE4FE0D8BBF}" type="pres">
      <dgm:prSet presAssocID="{A6738AA0-0AD8-4ADE-93DD-59177E586AAE}" presName="node" presStyleLbl="node1" presStyleIdx="4" presStyleCnt="9">
        <dgm:presLayoutVars>
          <dgm:bulletEnabled val="1"/>
        </dgm:presLayoutVars>
      </dgm:prSet>
      <dgm:spPr/>
    </dgm:pt>
    <dgm:pt modelId="{56869F15-FC6D-4499-9ED3-ACF4A5B36687}" type="pres">
      <dgm:prSet presAssocID="{C0F06366-3222-4D91-9FD1-D6DFF80EDC5E}" presName="sibTrans" presStyleLbl="sibTrans1D1" presStyleIdx="4" presStyleCnt="8"/>
      <dgm:spPr/>
    </dgm:pt>
    <dgm:pt modelId="{D0A178AF-3702-4A08-A386-A1EA73FDE7F7}" type="pres">
      <dgm:prSet presAssocID="{C0F06366-3222-4D91-9FD1-D6DFF80EDC5E}" presName="connectorText" presStyleLbl="sibTrans1D1" presStyleIdx="4" presStyleCnt="8"/>
      <dgm:spPr/>
    </dgm:pt>
    <dgm:pt modelId="{867495A2-FB65-4CE0-AD4F-FF139C68E3DA}" type="pres">
      <dgm:prSet presAssocID="{4EDCD1AF-A3F0-4C5A-B73A-15BB7D111999}" presName="node" presStyleLbl="node1" presStyleIdx="5" presStyleCnt="9">
        <dgm:presLayoutVars>
          <dgm:bulletEnabled val="1"/>
        </dgm:presLayoutVars>
      </dgm:prSet>
      <dgm:spPr/>
    </dgm:pt>
    <dgm:pt modelId="{C41318F1-06BA-4039-9163-2879BF9CA979}" type="pres">
      <dgm:prSet presAssocID="{1495ACB4-6F43-4DD0-95AD-FE24DF00AD29}" presName="sibTrans" presStyleLbl="sibTrans1D1" presStyleIdx="5" presStyleCnt="8"/>
      <dgm:spPr/>
    </dgm:pt>
    <dgm:pt modelId="{9D3CB057-C7D9-4A91-9E71-2A784798DC32}" type="pres">
      <dgm:prSet presAssocID="{1495ACB4-6F43-4DD0-95AD-FE24DF00AD29}" presName="connectorText" presStyleLbl="sibTrans1D1" presStyleIdx="5" presStyleCnt="8"/>
      <dgm:spPr/>
    </dgm:pt>
    <dgm:pt modelId="{FA1B5846-BC88-4BD9-B9EF-0A97976C2371}" type="pres">
      <dgm:prSet presAssocID="{6A2CEFA6-C92D-4432-8CC6-24E6D6A0028F}" presName="node" presStyleLbl="node1" presStyleIdx="6" presStyleCnt="9">
        <dgm:presLayoutVars>
          <dgm:bulletEnabled val="1"/>
        </dgm:presLayoutVars>
      </dgm:prSet>
      <dgm:spPr/>
    </dgm:pt>
    <dgm:pt modelId="{814F4059-9E37-401D-BAC2-7C2FFBB0D584}" type="pres">
      <dgm:prSet presAssocID="{17DB2ED4-338D-4A31-8977-C8B6F72F4020}" presName="sibTrans" presStyleLbl="sibTrans1D1" presStyleIdx="6" presStyleCnt="8"/>
      <dgm:spPr/>
    </dgm:pt>
    <dgm:pt modelId="{F99A334F-9E36-4FE7-80FC-5726915D4090}" type="pres">
      <dgm:prSet presAssocID="{17DB2ED4-338D-4A31-8977-C8B6F72F4020}" presName="connectorText" presStyleLbl="sibTrans1D1" presStyleIdx="6" presStyleCnt="8"/>
      <dgm:spPr/>
    </dgm:pt>
    <dgm:pt modelId="{EB6412AE-350B-43F2-A46A-BC492664203A}" type="pres">
      <dgm:prSet presAssocID="{CF50945A-39AC-4CEC-939D-44B5E9FE4F7B}" presName="node" presStyleLbl="node1" presStyleIdx="7" presStyleCnt="9">
        <dgm:presLayoutVars>
          <dgm:bulletEnabled val="1"/>
        </dgm:presLayoutVars>
      </dgm:prSet>
      <dgm:spPr/>
    </dgm:pt>
    <dgm:pt modelId="{73709E3F-733B-4AB6-BE8C-B72D67EFF2C6}" type="pres">
      <dgm:prSet presAssocID="{B2DB23E4-AB6F-4D34-AE7C-7D86377D755E}" presName="sibTrans" presStyleLbl="sibTrans1D1" presStyleIdx="7" presStyleCnt="8"/>
      <dgm:spPr/>
    </dgm:pt>
    <dgm:pt modelId="{6F2B56B2-BE16-41D6-95E6-CD3C4AAC5A95}" type="pres">
      <dgm:prSet presAssocID="{B2DB23E4-AB6F-4D34-AE7C-7D86377D755E}" presName="connectorText" presStyleLbl="sibTrans1D1" presStyleIdx="7" presStyleCnt="8"/>
      <dgm:spPr/>
    </dgm:pt>
    <dgm:pt modelId="{04891B71-EF1C-4606-B475-6840D4796295}" type="pres">
      <dgm:prSet presAssocID="{0F09B246-76C2-42E4-9B53-EBE35BEEAC56}" presName="node" presStyleLbl="node1" presStyleIdx="8" presStyleCnt="9">
        <dgm:presLayoutVars>
          <dgm:bulletEnabled val="1"/>
        </dgm:presLayoutVars>
      </dgm:prSet>
      <dgm:spPr/>
    </dgm:pt>
  </dgm:ptLst>
  <dgm:cxnLst>
    <dgm:cxn modelId="{E00CD204-B34F-45C5-9A63-A6439DEB5AB0}" type="presOf" srcId="{CF50945A-39AC-4CEC-939D-44B5E9FE4F7B}" destId="{EB6412AE-350B-43F2-A46A-BC492664203A}" srcOrd="0" destOrd="0" presId="urn:microsoft.com/office/officeart/2016/7/layout/RepeatingBendingProcessNew"/>
    <dgm:cxn modelId="{503C5E10-B3F6-4CEA-9D7C-19E48FA17F94}" type="presOf" srcId="{7F4E0F28-223D-4580-85FC-9ADC00899435}" destId="{7E6D67FE-4E38-499A-B7B3-51E613412E9D}" srcOrd="0" destOrd="0" presId="urn:microsoft.com/office/officeart/2016/7/layout/RepeatingBendingProcessNew"/>
    <dgm:cxn modelId="{E7B0141C-E30F-49B0-9BDF-97323EA81689}" srcId="{7F4E0F28-223D-4580-85FC-9ADC00899435}" destId="{ED0539D6-EE0C-4D51-9955-519259A8A583}" srcOrd="0" destOrd="0" parTransId="{BB20A521-05E4-461F-8BF9-700F77959AFF}" sibTransId="{E7A5C53C-4E06-46BA-BAA2-273FBFD63D17}"/>
    <dgm:cxn modelId="{CFC2841E-4C06-4802-9FE4-E741BE0455FB}" srcId="{7F4E0F28-223D-4580-85FC-9ADC00899435}" destId="{A6738AA0-0AD8-4ADE-93DD-59177E586AAE}" srcOrd="4" destOrd="0" parTransId="{89258B55-85E4-4F9B-B201-B308C0794B32}" sibTransId="{C0F06366-3222-4D91-9FD1-D6DFF80EDC5E}"/>
    <dgm:cxn modelId="{902E123A-B4F4-44A3-BD61-4EE7233FFC11}" type="presOf" srcId="{B2DB23E4-AB6F-4D34-AE7C-7D86377D755E}" destId="{73709E3F-733B-4AB6-BE8C-B72D67EFF2C6}" srcOrd="0" destOrd="0" presId="urn:microsoft.com/office/officeart/2016/7/layout/RepeatingBendingProcessNew"/>
    <dgm:cxn modelId="{5F7A8B3D-9A0C-4A0A-BFF8-F8E711BC3633}" type="presOf" srcId="{0F09B246-76C2-42E4-9B53-EBE35BEEAC56}" destId="{04891B71-EF1C-4606-B475-6840D4796295}" srcOrd="0" destOrd="0" presId="urn:microsoft.com/office/officeart/2016/7/layout/RepeatingBendingProcessNew"/>
    <dgm:cxn modelId="{6283103E-E597-48BD-A559-8FCAAFBDDA30}" type="presOf" srcId="{17DB2ED4-338D-4A31-8977-C8B6F72F4020}" destId="{814F4059-9E37-401D-BAC2-7C2FFBB0D584}" srcOrd="0" destOrd="0" presId="urn:microsoft.com/office/officeart/2016/7/layout/RepeatingBendingProcessNew"/>
    <dgm:cxn modelId="{F9B47B43-E65B-4D13-A54E-02292A45CAFD}" srcId="{7F4E0F28-223D-4580-85FC-9ADC00899435}" destId="{B37EDFBB-B0C9-4AA8-89D2-F8233B3CC8FD}" srcOrd="3" destOrd="0" parTransId="{DE383818-C5AC-4568-941D-1C202B1084A4}" sibTransId="{BB61A3E0-1A89-4CAE-BCB1-A679738D9339}"/>
    <dgm:cxn modelId="{F365D549-5043-4C86-BF8A-677F1CE5D4E5}" type="presOf" srcId="{1495ACB4-6F43-4DD0-95AD-FE24DF00AD29}" destId="{9D3CB057-C7D9-4A91-9E71-2A784798DC32}" srcOrd="1" destOrd="0" presId="urn:microsoft.com/office/officeart/2016/7/layout/RepeatingBendingProcessNew"/>
    <dgm:cxn modelId="{BF31BA50-0952-4EA5-8337-9D313DC6A139}" type="presOf" srcId="{B784C40E-3A0A-4725-93CB-4A254D34952E}" destId="{6A4B597E-E514-47FD-BC4F-23D3B0BC5D46}" srcOrd="0" destOrd="0" presId="urn:microsoft.com/office/officeart/2016/7/layout/RepeatingBendingProcessNew"/>
    <dgm:cxn modelId="{A34D8253-E8CE-406F-AFB2-7FE317F69139}" type="presOf" srcId="{ED0539D6-EE0C-4D51-9955-519259A8A583}" destId="{6DEEE660-ED2D-4B76-B23E-A0DB8911B7C5}" srcOrd="0" destOrd="0" presId="urn:microsoft.com/office/officeart/2016/7/layout/RepeatingBendingProcessNew"/>
    <dgm:cxn modelId="{9B9ADB57-FD36-4E95-8F6E-0DE4212C6A27}" type="presOf" srcId="{5DDE31F2-D148-46FF-B6C7-47F2462B5836}" destId="{82540BEF-1285-4147-B4DC-588943FE474E}" srcOrd="0" destOrd="0" presId="urn:microsoft.com/office/officeart/2016/7/layout/RepeatingBendingProcessNew"/>
    <dgm:cxn modelId="{BCFCA758-49DA-4CF5-9F1D-509ED18A242A}" type="presOf" srcId="{1495ACB4-6F43-4DD0-95AD-FE24DF00AD29}" destId="{C41318F1-06BA-4039-9163-2879BF9CA979}" srcOrd="0" destOrd="0" presId="urn:microsoft.com/office/officeart/2016/7/layout/RepeatingBendingProcessNew"/>
    <dgm:cxn modelId="{B2870264-245D-4D47-A090-9E320D6FBF54}" srcId="{7F4E0F28-223D-4580-85FC-9ADC00899435}" destId="{B784C40E-3A0A-4725-93CB-4A254D34952E}" srcOrd="2" destOrd="0" parTransId="{44E6F8B6-7A9E-4398-B246-A3A309D07632}" sibTransId="{5DDE31F2-D148-46FF-B6C7-47F2462B5836}"/>
    <dgm:cxn modelId="{D9F3CD6C-C327-4F7B-8298-ECFA20CB5AFB}" srcId="{7F4E0F28-223D-4580-85FC-9ADC00899435}" destId="{6A2CEFA6-C92D-4432-8CC6-24E6D6A0028F}" srcOrd="6" destOrd="0" parTransId="{BCE9DF01-3BE6-4F76-BC13-4D47E5127D81}" sibTransId="{17DB2ED4-338D-4A31-8977-C8B6F72F4020}"/>
    <dgm:cxn modelId="{57C72F6D-D119-4258-B33E-922EDE510900}" type="presOf" srcId="{5DDE31F2-D148-46FF-B6C7-47F2462B5836}" destId="{8F40E4CF-067A-40E1-A049-BBE578866759}" srcOrd="1" destOrd="0" presId="urn:microsoft.com/office/officeart/2016/7/layout/RepeatingBendingProcessNew"/>
    <dgm:cxn modelId="{C43C5481-3387-4523-B000-F116CCB1FBEF}" srcId="{7F4E0F28-223D-4580-85FC-9ADC00899435}" destId="{CF50945A-39AC-4CEC-939D-44B5E9FE4F7B}" srcOrd="7" destOrd="0" parTransId="{E65E754A-6A01-4E97-8356-2281C7E79CD7}" sibTransId="{B2DB23E4-AB6F-4D34-AE7C-7D86377D755E}"/>
    <dgm:cxn modelId="{06B9A382-4D25-4669-8055-31FDD6D975F9}" type="presOf" srcId="{C0F06366-3222-4D91-9FD1-D6DFF80EDC5E}" destId="{56869F15-FC6D-4499-9ED3-ACF4A5B36687}" srcOrd="0" destOrd="0" presId="urn:microsoft.com/office/officeart/2016/7/layout/RepeatingBendingProcessNew"/>
    <dgm:cxn modelId="{FD267385-B861-4919-AFAA-E5B189D7749B}" type="presOf" srcId="{B2DB23E4-AB6F-4D34-AE7C-7D86377D755E}" destId="{6F2B56B2-BE16-41D6-95E6-CD3C4AAC5A95}" srcOrd="1" destOrd="0" presId="urn:microsoft.com/office/officeart/2016/7/layout/RepeatingBendingProcessNew"/>
    <dgm:cxn modelId="{0F0B5486-6816-4166-9659-A5C748C14ACF}" type="presOf" srcId="{BB61A3E0-1A89-4CAE-BCB1-A679738D9339}" destId="{BC6AD157-6512-44B0-A548-A80F3E79DEFF}" srcOrd="0" destOrd="0" presId="urn:microsoft.com/office/officeart/2016/7/layout/RepeatingBendingProcessNew"/>
    <dgm:cxn modelId="{289BCC8B-F3FA-4161-A1FC-C3E4045F8CBA}" type="presOf" srcId="{4EDCD1AF-A3F0-4C5A-B73A-15BB7D111999}" destId="{867495A2-FB65-4CE0-AD4F-FF139C68E3DA}" srcOrd="0" destOrd="0" presId="urn:microsoft.com/office/officeart/2016/7/layout/RepeatingBendingProcessNew"/>
    <dgm:cxn modelId="{1F17E68E-7402-4BF7-B034-224791AC3A76}" type="presOf" srcId="{E7A5C53C-4E06-46BA-BAA2-273FBFD63D17}" destId="{C1ED0CC0-E88E-4736-9664-4472E8D3CCEF}" srcOrd="0" destOrd="0" presId="urn:microsoft.com/office/officeart/2016/7/layout/RepeatingBendingProcessNew"/>
    <dgm:cxn modelId="{34F28E92-81ED-4456-8555-1663178F29F2}" srcId="{7F4E0F28-223D-4580-85FC-9ADC00899435}" destId="{6B276C85-1781-4D90-B78A-00A726D5E5B1}" srcOrd="1" destOrd="0" parTransId="{9A4D14C5-2E61-4A2D-B5E1-204DEDCD57B4}" sibTransId="{7B72FC06-E575-4BE4-92AD-3DCD79110A8B}"/>
    <dgm:cxn modelId="{94885B99-E361-44D7-A8B4-157181882CDC}" type="presOf" srcId="{6B276C85-1781-4D90-B78A-00A726D5E5B1}" destId="{C8487E6D-019F-4986-95AF-E9FEE25B80CD}" srcOrd="0" destOrd="0" presId="urn:microsoft.com/office/officeart/2016/7/layout/RepeatingBendingProcessNew"/>
    <dgm:cxn modelId="{6F962C9E-CC67-4836-9671-322889FA5B51}" type="presOf" srcId="{BB61A3E0-1A89-4CAE-BCB1-A679738D9339}" destId="{688DB2D3-72A3-49C3-9008-CEDD2722BCDA}" srcOrd="1" destOrd="0" presId="urn:microsoft.com/office/officeart/2016/7/layout/RepeatingBendingProcessNew"/>
    <dgm:cxn modelId="{A0C7E5B6-0864-4953-BB5A-E7FA955917A9}" srcId="{7F4E0F28-223D-4580-85FC-9ADC00899435}" destId="{4EDCD1AF-A3F0-4C5A-B73A-15BB7D111999}" srcOrd="5" destOrd="0" parTransId="{D62B1760-44B0-434C-BA47-0492A3B3B186}" sibTransId="{1495ACB4-6F43-4DD0-95AD-FE24DF00AD29}"/>
    <dgm:cxn modelId="{4A60C3BF-835E-488F-BACE-63E091B7D18F}" type="presOf" srcId="{B37EDFBB-B0C9-4AA8-89D2-F8233B3CC8FD}" destId="{934460FD-AC36-438C-B0E1-92B3DA707BFC}" srcOrd="0" destOrd="0" presId="urn:microsoft.com/office/officeart/2016/7/layout/RepeatingBendingProcessNew"/>
    <dgm:cxn modelId="{191782D1-9AB2-497C-8186-77C9563E01E2}" type="presOf" srcId="{6A2CEFA6-C92D-4432-8CC6-24E6D6A0028F}" destId="{FA1B5846-BC88-4BD9-B9EF-0A97976C2371}" srcOrd="0" destOrd="0" presId="urn:microsoft.com/office/officeart/2016/7/layout/RepeatingBendingProcessNew"/>
    <dgm:cxn modelId="{AE3219D7-29BD-4A9B-ABDC-17FF709427D6}" type="presOf" srcId="{7B72FC06-E575-4BE4-92AD-3DCD79110A8B}" destId="{7A70860E-83F6-4414-9BF3-CB47F1A46A2C}" srcOrd="1" destOrd="0" presId="urn:microsoft.com/office/officeart/2016/7/layout/RepeatingBendingProcessNew"/>
    <dgm:cxn modelId="{738A91E1-99AF-42C9-93CB-BA4098176FAA}" srcId="{7F4E0F28-223D-4580-85FC-9ADC00899435}" destId="{0F09B246-76C2-42E4-9B53-EBE35BEEAC56}" srcOrd="8" destOrd="0" parTransId="{986C1355-D9EB-4C67-A45E-51563CB7393C}" sibTransId="{0C55934B-9070-4F30-9EA8-F1A5FE109143}"/>
    <dgm:cxn modelId="{74D56CE3-178F-455B-8839-C0B679BF934A}" type="presOf" srcId="{C0F06366-3222-4D91-9FD1-D6DFF80EDC5E}" destId="{D0A178AF-3702-4A08-A386-A1EA73FDE7F7}" srcOrd="1" destOrd="0" presId="urn:microsoft.com/office/officeart/2016/7/layout/RepeatingBendingProcessNew"/>
    <dgm:cxn modelId="{0511D1EA-A17C-4E5A-BE32-E18E7F198DEF}" type="presOf" srcId="{A6738AA0-0AD8-4ADE-93DD-59177E586AAE}" destId="{945A4E33-7BF3-47DD-B44A-1EE4FE0D8BBF}" srcOrd="0" destOrd="0" presId="urn:microsoft.com/office/officeart/2016/7/layout/RepeatingBendingProcessNew"/>
    <dgm:cxn modelId="{BBC283F3-72D0-438F-929C-34989C374FA3}" type="presOf" srcId="{17DB2ED4-338D-4A31-8977-C8B6F72F4020}" destId="{F99A334F-9E36-4FE7-80FC-5726915D4090}" srcOrd="1" destOrd="0" presId="urn:microsoft.com/office/officeart/2016/7/layout/RepeatingBendingProcessNew"/>
    <dgm:cxn modelId="{B9D495F8-DB3E-44E7-91B8-4DCA3027C752}" type="presOf" srcId="{E7A5C53C-4E06-46BA-BAA2-273FBFD63D17}" destId="{C19B0F04-4283-4F7C-8E7C-97C764C8D13F}" srcOrd="1" destOrd="0" presId="urn:microsoft.com/office/officeart/2016/7/layout/RepeatingBendingProcessNew"/>
    <dgm:cxn modelId="{4198FBFF-59CE-464B-91F0-13AAF96E5602}" type="presOf" srcId="{7B72FC06-E575-4BE4-92AD-3DCD79110A8B}" destId="{C51CCD28-D670-4E69-A5CB-A8CB353700FB}" srcOrd="0" destOrd="0" presId="urn:microsoft.com/office/officeart/2016/7/layout/RepeatingBendingProcessNew"/>
    <dgm:cxn modelId="{627982FF-A34B-4C47-8F74-69BF65672912}" type="presParOf" srcId="{7E6D67FE-4E38-499A-B7B3-51E613412E9D}" destId="{6DEEE660-ED2D-4B76-B23E-A0DB8911B7C5}" srcOrd="0" destOrd="0" presId="urn:microsoft.com/office/officeart/2016/7/layout/RepeatingBendingProcessNew"/>
    <dgm:cxn modelId="{C377BADD-64DA-4AAE-9A51-4BF3B5680D6F}" type="presParOf" srcId="{7E6D67FE-4E38-499A-B7B3-51E613412E9D}" destId="{C1ED0CC0-E88E-4736-9664-4472E8D3CCEF}" srcOrd="1" destOrd="0" presId="urn:microsoft.com/office/officeart/2016/7/layout/RepeatingBendingProcessNew"/>
    <dgm:cxn modelId="{AA9EE375-0919-4E73-9318-F96199AC6636}" type="presParOf" srcId="{C1ED0CC0-E88E-4736-9664-4472E8D3CCEF}" destId="{C19B0F04-4283-4F7C-8E7C-97C764C8D13F}" srcOrd="0" destOrd="0" presId="urn:microsoft.com/office/officeart/2016/7/layout/RepeatingBendingProcessNew"/>
    <dgm:cxn modelId="{DEE9D1DC-6905-4538-8202-A05CCF697BA8}" type="presParOf" srcId="{7E6D67FE-4E38-499A-B7B3-51E613412E9D}" destId="{C8487E6D-019F-4986-95AF-E9FEE25B80CD}" srcOrd="2" destOrd="0" presId="urn:microsoft.com/office/officeart/2016/7/layout/RepeatingBendingProcessNew"/>
    <dgm:cxn modelId="{E14B349E-36F0-4F97-A5C4-304C7C4B1219}" type="presParOf" srcId="{7E6D67FE-4E38-499A-B7B3-51E613412E9D}" destId="{C51CCD28-D670-4E69-A5CB-A8CB353700FB}" srcOrd="3" destOrd="0" presId="urn:microsoft.com/office/officeart/2016/7/layout/RepeatingBendingProcessNew"/>
    <dgm:cxn modelId="{0B56439F-99E3-4402-B765-1210E7F5BA92}" type="presParOf" srcId="{C51CCD28-D670-4E69-A5CB-A8CB353700FB}" destId="{7A70860E-83F6-4414-9BF3-CB47F1A46A2C}" srcOrd="0" destOrd="0" presId="urn:microsoft.com/office/officeart/2016/7/layout/RepeatingBendingProcessNew"/>
    <dgm:cxn modelId="{25B08F76-3018-448F-9A9B-AB03758E7141}" type="presParOf" srcId="{7E6D67FE-4E38-499A-B7B3-51E613412E9D}" destId="{6A4B597E-E514-47FD-BC4F-23D3B0BC5D46}" srcOrd="4" destOrd="0" presId="urn:microsoft.com/office/officeart/2016/7/layout/RepeatingBendingProcessNew"/>
    <dgm:cxn modelId="{4E03E1EC-D7EE-4218-94B9-24B8CA6A817A}" type="presParOf" srcId="{7E6D67FE-4E38-499A-B7B3-51E613412E9D}" destId="{82540BEF-1285-4147-B4DC-588943FE474E}" srcOrd="5" destOrd="0" presId="urn:microsoft.com/office/officeart/2016/7/layout/RepeatingBendingProcessNew"/>
    <dgm:cxn modelId="{4D4D3DB0-4720-4B8D-ADC3-A8A5057AFD55}" type="presParOf" srcId="{82540BEF-1285-4147-B4DC-588943FE474E}" destId="{8F40E4CF-067A-40E1-A049-BBE578866759}" srcOrd="0" destOrd="0" presId="urn:microsoft.com/office/officeart/2016/7/layout/RepeatingBendingProcessNew"/>
    <dgm:cxn modelId="{079CC077-B495-414F-BCA4-37F01385214B}" type="presParOf" srcId="{7E6D67FE-4E38-499A-B7B3-51E613412E9D}" destId="{934460FD-AC36-438C-B0E1-92B3DA707BFC}" srcOrd="6" destOrd="0" presId="urn:microsoft.com/office/officeart/2016/7/layout/RepeatingBendingProcessNew"/>
    <dgm:cxn modelId="{41AF33BE-1FF4-44DA-845B-1E4B8ADDDA28}" type="presParOf" srcId="{7E6D67FE-4E38-499A-B7B3-51E613412E9D}" destId="{BC6AD157-6512-44B0-A548-A80F3E79DEFF}" srcOrd="7" destOrd="0" presId="urn:microsoft.com/office/officeart/2016/7/layout/RepeatingBendingProcessNew"/>
    <dgm:cxn modelId="{67104CBA-B766-4FBE-8150-1891AAF3F512}" type="presParOf" srcId="{BC6AD157-6512-44B0-A548-A80F3E79DEFF}" destId="{688DB2D3-72A3-49C3-9008-CEDD2722BCDA}" srcOrd="0" destOrd="0" presId="urn:microsoft.com/office/officeart/2016/7/layout/RepeatingBendingProcessNew"/>
    <dgm:cxn modelId="{D3DCF827-F0C7-45C0-A4FF-E0DA7B4A42FC}" type="presParOf" srcId="{7E6D67FE-4E38-499A-B7B3-51E613412E9D}" destId="{945A4E33-7BF3-47DD-B44A-1EE4FE0D8BBF}" srcOrd="8" destOrd="0" presId="urn:microsoft.com/office/officeart/2016/7/layout/RepeatingBendingProcessNew"/>
    <dgm:cxn modelId="{D7BE21A6-4AC6-4E0A-8C42-B2932258C8A3}" type="presParOf" srcId="{7E6D67FE-4E38-499A-B7B3-51E613412E9D}" destId="{56869F15-FC6D-4499-9ED3-ACF4A5B36687}" srcOrd="9" destOrd="0" presId="urn:microsoft.com/office/officeart/2016/7/layout/RepeatingBendingProcessNew"/>
    <dgm:cxn modelId="{E7C01929-15E5-42CC-8F5B-A6CF1966EBC8}" type="presParOf" srcId="{56869F15-FC6D-4499-9ED3-ACF4A5B36687}" destId="{D0A178AF-3702-4A08-A386-A1EA73FDE7F7}" srcOrd="0" destOrd="0" presId="urn:microsoft.com/office/officeart/2016/7/layout/RepeatingBendingProcessNew"/>
    <dgm:cxn modelId="{EAE94DB5-F154-435F-A790-18AB8A02AEDB}" type="presParOf" srcId="{7E6D67FE-4E38-499A-B7B3-51E613412E9D}" destId="{867495A2-FB65-4CE0-AD4F-FF139C68E3DA}" srcOrd="10" destOrd="0" presId="urn:microsoft.com/office/officeart/2016/7/layout/RepeatingBendingProcessNew"/>
    <dgm:cxn modelId="{789003EC-A569-4703-B37F-8E6BE6DA26B7}" type="presParOf" srcId="{7E6D67FE-4E38-499A-B7B3-51E613412E9D}" destId="{C41318F1-06BA-4039-9163-2879BF9CA979}" srcOrd="11" destOrd="0" presId="urn:microsoft.com/office/officeart/2016/7/layout/RepeatingBendingProcessNew"/>
    <dgm:cxn modelId="{232FA980-FEB9-40F9-9A5B-40B3BE6F30EE}" type="presParOf" srcId="{C41318F1-06BA-4039-9163-2879BF9CA979}" destId="{9D3CB057-C7D9-4A91-9E71-2A784798DC32}" srcOrd="0" destOrd="0" presId="urn:microsoft.com/office/officeart/2016/7/layout/RepeatingBendingProcessNew"/>
    <dgm:cxn modelId="{B544FEE4-5884-4397-8CBA-0C5DE2D54763}" type="presParOf" srcId="{7E6D67FE-4E38-499A-B7B3-51E613412E9D}" destId="{FA1B5846-BC88-4BD9-B9EF-0A97976C2371}" srcOrd="12" destOrd="0" presId="urn:microsoft.com/office/officeart/2016/7/layout/RepeatingBendingProcessNew"/>
    <dgm:cxn modelId="{8A08A26F-7F8D-49FC-8ED3-EFBDAFBACC86}" type="presParOf" srcId="{7E6D67FE-4E38-499A-B7B3-51E613412E9D}" destId="{814F4059-9E37-401D-BAC2-7C2FFBB0D584}" srcOrd="13" destOrd="0" presId="urn:microsoft.com/office/officeart/2016/7/layout/RepeatingBendingProcessNew"/>
    <dgm:cxn modelId="{6DB009F2-EB8B-4479-8551-0EED78518BC9}" type="presParOf" srcId="{814F4059-9E37-401D-BAC2-7C2FFBB0D584}" destId="{F99A334F-9E36-4FE7-80FC-5726915D4090}" srcOrd="0" destOrd="0" presId="urn:microsoft.com/office/officeart/2016/7/layout/RepeatingBendingProcessNew"/>
    <dgm:cxn modelId="{FB4B6533-2D4F-489B-AF72-DB4075798BB2}" type="presParOf" srcId="{7E6D67FE-4E38-499A-B7B3-51E613412E9D}" destId="{EB6412AE-350B-43F2-A46A-BC492664203A}" srcOrd="14" destOrd="0" presId="urn:microsoft.com/office/officeart/2016/7/layout/RepeatingBendingProcessNew"/>
    <dgm:cxn modelId="{7105CB29-9411-4F33-9F37-CD1C5472F840}" type="presParOf" srcId="{7E6D67FE-4E38-499A-B7B3-51E613412E9D}" destId="{73709E3F-733B-4AB6-BE8C-B72D67EFF2C6}" srcOrd="15" destOrd="0" presId="urn:microsoft.com/office/officeart/2016/7/layout/RepeatingBendingProcessNew"/>
    <dgm:cxn modelId="{FE0F8C4F-E0D3-4687-A0F2-A6B26C817691}" type="presParOf" srcId="{73709E3F-733B-4AB6-BE8C-B72D67EFF2C6}" destId="{6F2B56B2-BE16-41D6-95E6-CD3C4AAC5A95}" srcOrd="0" destOrd="0" presId="urn:microsoft.com/office/officeart/2016/7/layout/RepeatingBendingProcessNew"/>
    <dgm:cxn modelId="{38F68C20-E72E-4BC8-923B-99BE77917799}" type="presParOf" srcId="{7E6D67FE-4E38-499A-B7B3-51E613412E9D}" destId="{04891B71-EF1C-4606-B475-6840D4796295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D0CC0-E88E-4736-9664-4472E8D3CCEF}">
      <dsp:nvSpPr>
        <dsp:cNvPr id="0" name=""/>
        <dsp:cNvSpPr/>
      </dsp:nvSpPr>
      <dsp:spPr>
        <a:xfrm>
          <a:off x="1744719" y="869442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18953" y="913165"/>
        <a:ext cx="19950" cy="3994"/>
      </dsp:txXfrm>
    </dsp:sp>
    <dsp:sp modelId="{6DEEE660-ED2D-4B76-B23E-A0DB8911B7C5}">
      <dsp:nvSpPr>
        <dsp:cNvPr id="0" name=""/>
        <dsp:cNvSpPr/>
      </dsp:nvSpPr>
      <dsp:spPr>
        <a:xfrm>
          <a:off x="11654" y="394703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baseline="0" dirty="0"/>
            <a:t>Primary Objective:</a:t>
          </a:r>
          <a:br>
            <a:rPr lang="en-US" sz="1000" b="0" i="0" kern="1200" baseline="0" dirty="0"/>
          </a:br>
          <a:r>
            <a:rPr lang="en-US" sz="1000" b="0" i="0" kern="1200" baseline="0" dirty="0"/>
            <a:t>Identify and categorize critical alerts from thousands </a:t>
          </a:r>
          <a:r>
            <a:rPr lang="en-US" sz="1000" b="0" i="0" kern="1200" baseline="0" dirty="0">
              <a:latin typeface="Abadi" panose="020B0604020104020204" pitchFamily="34" charset="0"/>
            </a:rPr>
            <a:t>generated</a:t>
          </a:r>
          <a:r>
            <a:rPr lang="en-US" sz="1000" b="0" i="0" kern="1200" baseline="0" dirty="0"/>
            <a:t> by integration systems like MuleSoft and BULK API using </a:t>
          </a:r>
          <a:r>
            <a:rPr lang="en-US" sz="1000" b="1" i="0" kern="1200" baseline="0" dirty="0"/>
            <a:t>K Means clustering</a:t>
          </a:r>
          <a:r>
            <a:rPr lang="en-US" sz="1000" b="0" i="0" kern="1200" baseline="0" dirty="0"/>
            <a:t>.</a:t>
          </a:r>
          <a:endParaRPr lang="en-US" sz="1000" kern="1200" dirty="0"/>
        </a:p>
      </dsp:txBody>
      <dsp:txXfrm>
        <a:off x="11654" y="394703"/>
        <a:ext cx="1734865" cy="1040919"/>
      </dsp:txXfrm>
    </dsp:sp>
    <dsp:sp modelId="{C51CCD28-D670-4E69-A5CB-A8CB353700FB}">
      <dsp:nvSpPr>
        <dsp:cNvPr id="0" name=""/>
        <dsp:cNvSpPr/>
      </dsp:nvSpPr>
      <dsp:spPr>
        <a:xfrm>
          <a:off x="3878603" y="869442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64738"/>
              <a:satOff val="-6856"/>
              <a:lumOff val="-16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2837" y="913165"/>
        <a:ext cx="19950" cy="3994"/>
      </dsp:txXfrm>
    </dsp:sp>
    <dsp:sp modelId="{C8487E6D-019F-4986-95AF-E9FEE25B80CD}">
      <dsp:nvSpPr>
        <dsp:cNvPr id="0" name=""/>
        <dsp:cNvSpPr/>
      </dsp:nvSpPr>
      <dsp:spPr>
        <a:xfrm>
          <a:off x="2145538" y="394703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56646"/>
                <a:satOff val="-5999"/>
                <a:lumOff val="-147"/>
                <a:alphaOff val="0"/>
                <a:tint val="96000"/>
                <a:lumMod val="104000"/>
              </a:schemeClr>
            </a:gs>
            <a:gs pos="100000">
              <a:schemeClr val="accent2">
                <a:hueOff val="56646"/>
                <a:satOff val="-5999"/>
                <a:lumOff val="-147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Key Steps</a:t>
          </a:r>
          <a:endParaRPr lang="en-US" sz="1200" kern="1200" dirty="0"/>
        </a:p>
      </dsp:txBody>
      <dsp:txXfrm>
        <a:off x="2145538" y="394703"/>
        <a:ext cx="1734865" cy="1040919"/>
      </dsp:txXfrm>
    </dsp:sp>
    <dsp:sp modelId="{82540BEF-1285-4147-B4DC-588943FE474E}">
      <dsp:nvSpPr>
        <dsp:cNvPr id="0" name=""/>
        <dsp:cNvSpPr/>
      </dsp:nvSpPr>
      <dsp:spPr>
        <a:xfrm>
          <a:off x="6012488" y="869442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129476"/>
              <a:satOff val="-13712"/>
              <a:lumOff val="-3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86722" y="913165"/>
        <a:ext cx="19950" cy="3994"/>
      </dsp:txXfrm>
    </dsp:sp>
    <dsp:sp modelId="{6A4B597E-E514-47FD-BC4F-23D3B0BC5D46}">
      <dsp:nvSpPr>
        <dsp:cNvPr id="0" name=""/>
        <dsp:cNvSpPr/>
      </dsp:nvSpPr>
      <dsp:spPr>
        <a:xfrm>
          <a:off x="4279422" y="394703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113291"/>
                <a:satOff val="-11998"/>
                <a:lumOff val="-294"/>
                <a:alphaOff val="0"/>
                <a:tint val="96000"/>
                <a:lumMod val="104000"/>
              </a:schemeClr>
            </a:gs>
            <a:gs pos="100000">
              <a:schemeClr val="accent2">
                <a:hueOff val="113291"/>
                <a:satOff val="-11998"/>
                <a:lumOff val="-29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Data Analysis:</a:t>
          </a:r>
          <a:r>
            <a:rPr lang="en-US" sz="1200" b="0" i="0" kern="1200" baseline="0" dirty="0"/>
            <a:t> </a:t>
          </a:r>
          <a:r>
            <a:rPr lang="en-US" sz="1200" b="0" i="0" kern="1200" baseline="0" dirty="0">
              <a:latin typeface="Abadi" panose="020B0604020104020204" pitchFamily="34" charset="0"/>
            </a:rPr>
            <a:t>Identify alerts requiring immediate attention.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4279422" y="394703"/>
        <a:ext cx="1734865" cy="1040919"/>
      </dsp:txXfrm>
    </dsp:sp>
    <dsp:sp modelId="{BC6AD157-6512-44B0-A548-A80F3E79DEFF}">
      <dsp:nvSpPr>
        <dsp:cNvPr id="0" name=""/>
        <dsp:cNvSpPr/>
      </dsp:nvSpPr>
      <dsp:spPr>
        <a:xfrm>
          <a:off x="8146372" y="869442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194214"/>
              <a:satOff val="-20568"/>
              <a:lumOff val="-50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20606" y="913165"/>
        <a:ext cx="19950" cy="3994"/>
      </dsp:txXfrm>
    </dsp:sp>
    <dsp:sp modelId="{934460FD-AC36-438C-B0E1-92B3DA707BFC}">
      <dsp:nvSpPr>
        <dsp:cNvPr id="0" name=""/>
        <dsp:cNvSpPr/>
      </dsp:nvSpPr>
      <dsp:spPr>
        <a:xfrm>
          <a:off x="6413307" y="394703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169937"/>
                <a:satOff val="-17997"/>
                <a:lumOff val="-441"/>
                <a:alphaOff val="0"/>
                <a:tint val="96000"/>
                <a:lumMod val="104000"/>
              </a:schemeClr>
            </a:gs>
            <a:gs pos="100000">
              <a:schemeClr val="accent2">
                <a:hueOff val="169937"/>
                <a:satOff val="-17997"/>
                <a:lumOff val="-44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Clustering:</a:t>
          </a:r>
          <a:r>
            <a:rPr lang="en-US" sz="1200" b="0" i="0" kern="1200" baseline="0" dirty="0"/>
            <a:t> </a:t>
          </a:r>
          <a:r>
            <a:rPr lang="en-US" sz="1200" b="0" i="0" kern="1200" baseline="0" dirty="0">
              <a:latin typeface="Abadi" panose="020B0604020104020204" pitchFamily="34" charset="0"/>
            </a:rPr>
            <a:t>Use K Means clustering to group alerts into meaningful patterns.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6413307" y="394703"/>
        <a:ext cx="1734865" cy="1040919"/>
      </dsp:txXfrm>
    </dsp:sp>
    <dsp:sp modelId="{56869F15-FC6D-4499-9ED3-ACF4A5B36687}">
      <dsp:nvSpPr>
        <dsp:cNvPr id="0" name=""/>
        <dsp:cNvSpPr/>
      </dsp:nvSpPr>
      <dsp:spPr>
        <a:xfrm>
          <a:off x="879086" y="1433822"/>
          <a:ext cx="8535537" cy="368419"/>
        </a:xfrm>
        <a:custGeom>
          <a:avLst/>
          <a:gdLst/>
          <a:ahLst/>
          <a:cxnLst/>
          <a:rect l="0" t="0" r="0" b="0"/>
          <a:pathLst>
            <a:path>
              <a:moveTo>
                <a:pt x="8535537" y="0"/>
              </a:moveTo>
              <a:lnTo>
                <a:pt x="8535537" y="201309"/>
              </a:lnTo>
              <a:lnTo>
                <a:pt x="0" y="201309"/>
              </a:lnTo>
              <a:lnTo>
                <a:pt x="0" y="368419"/>
              </a:lnTo>
            </a:path>
          </a:pathLst>
        </a:custGeom>
        <a:noFill/>
        <a:ln w="9525" cap="rnd" cmpd="sng" algn="ctr">
          <a:solidFill>
            <a:schemeClr val="accent2">
              <a:hueOff val="258951"/>
              <a:satOff val="-27425"/>
              <a:lumOff val="-6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33234" y="1616034"/>
        <a:ext cx="427242" cy="3994"/>
      </dsp:txXfrm>
    </dsp:sp>
    <dsp:sp modelId="{945A4E33-7BF3-47DD-B44A-1EE4FE0D8BBF}">
      <dsp:nvSpPr>
        <dsp:cNvPr id="0" name=""/>
        <dsp:cNvSpPr/>
      </dsp:nvSpPr>
      <dsp:spPr>
        <a:xfrm>
          <a:off x="8547191" y="394703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Visualization:</a:t>
          </a:r>
          <a:r>
            <a:rPr lang="en-US" sz="1200" b="0" i="0" kern="1200" baseline="0" dirty="0"/>
            <a:t> </a:t>
          </a:r>
          <a:r>
            <a:rPr lang="en-US" sz="1200" b="0" i="0" kern="1200" baseline="0" dirty="0">
              <a:latin typeface="Abadi" panose="020B0604020104020204" pitchFamily="34" charset="0"/>
            </a:rPr>
            <a:t>Create Charts &amp; dashboards for interactive insights.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8547191" y="394703"/>
        <a:ext cx="1734865" cy="1040919"/>
      </dsp:txXfrm>
    </dsp:sp>
    <dsp:sp modelId="{C41318F1-06BA-4039-9163-2879BF9CA979}">
      <dsp:nvSpPr>
        <dsp:cNvPr id="0" name=""/>
        <dsp:cNvSpPr/>
      </dsp:nvSpPr>
      <dsp:spPr>
        <a:xfrm>
          <a:off x="1744719" y="2309381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323689"/>
              <a:satOff val="-34281"/>
              <a:lumOff val="-84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18953" y="2353104"/>
        <a:ext cx="19950" cy="3994"/>
      </dsp:txXfrm>
    </dsp:sp>
    <dsp:sp modelId="{867495A2-FB65-4CE0-AD4F-FF139C68E3DA}">
      <dsp:nvSpPr>
        <dsp:cNvPr id="0" name=""/>
        <dsp:cNvSpPr/>
      </dsp:nvSpPr>
      <dsp:spPr>
        <a:xfrm>
          <a:off x="11654" y="1834641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283228"/>
                <a:satOff val="-29996"/>
                <a:lumOff val="-735"/>
                <a:alphaOff val="0"/>
                <a:tint val="96000"/>
                <a:lumMod val="104000"/>
              </a:schemeClr>
            </a:gs>
            <a:gs pos="100000">
              <a:schemeClr val="accent2">
                <a:hueOff val="283228"/>
                <a:satOff val="-29996"/>
                <a:lumOff val="-73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Actionable Insights:</a:t>
          </a:r>
          <a:r>
            <a:rPr lang="en-US" sz="1200" b="0" i="0" kern="1200" baseline="0" dirty="0"/>
            <a:t> </a:t>
          </a:r>
          <a:r>
            <a:rPr lang="en-US" sz="1200" b="0" i="0" kern="1200" baseline="0" dirty="0">
              <a:latin typeface="Abadi" panose="020B0604020104020204" pitchFamily="34" charset="0"/>
            </a:rPr>
            <a:t>Provide clear, data-driven recommendations.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11654" y="1834641"/>
        <a:ext cx="1734865" cy="1040919"/>
      </dsp:txXfrm>
    </dsp:sp>
    <dsp:sp modelId="{814F4059-9E37-401D-BAC2-7C2FFBB0D584}">
      <dsp:nvSpPr>
        <dsp:cNvPr id="0" name=""/>
        <dsp:cNvSpPr/>
      </dsp:nvSpPr>
      <dsp:spPr>
        <a:xfrm>
          <a:off x="3878603" y="2309381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388427"/>
              <a:satOff val="-41137"/>
              <a:lumOff val="-100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2837" y="2353104"/>
        <a:ext cx="19950" cy="3994"/>
      </dsp:txXfrm>
    </dsp:sp>
    <dsp:sp modelId="{FA1B5846-BC88-4BD9-B9EF-0A97976C2371}">
      <dsp:nvSpPr>
        <dsp:cNvPr id="0" name=""/>
        <dsp:cNvSpPr/>
      </dsp:nvSpPr>
      <dsp:spPr>
        <a:xfrm>
          <a:off x="2145538" y="1834641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339874"/>
                <a:satOff val="-35995"/>
                <a:lumOff val="-882"/>
                <a:alphaOff val="0"/>
                <a:tint val="96000"/>
                <a:lumMod val="104000"/>
              </a:schemeClr>
            </a:gs>
            <a:gs pos="100000">
              <a:schemeClr val="accent2">
                <a:hueOff val="339874"/>
                <a:satOff val="-35995"/>
                <a:lumOff val="-88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Efficiency Improvement:</a:t>
          </a:r>
          <a:r>
            <a:rPr lang="en-US" sz="1200" b="0" i="0" kern="1200" baseline="0" dirty="0"/>
            <a:t> </a:t>
          </a:r>
          <a:r>
            <a:rPr lang="en-US" sz="1200" b="0" i="0" kern="1200" baseline="0" dirty="0">
              <a:latin typeface="Abadi" panose="020B0604020104020204" pitchFamily="34" charset="0"/>
            </a:rPr>
            <a:t>Address root causes of alerts and streamline processes.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2145538" y="1834641"/>
        <a:ext cx="1734865" cy="1040919"/>
      </dsp:txXfrm>
    </dsp:sp>
    <dsp:sp modelId="{73709E3F-733B-4AB6-BE8C-B72D67EFF2C6}">
      <dsp:nvSpPr>
        <dsp:cNvPr id="0" name=""/>
        <dsp:cNvSpPr/>
      </dsp:nvSpPr>
      <dsp:spPr>
        <a:xfrm>
          <a:off x="6012488" y="2309381"/>
          <a:ext cx="368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8419" y="45720"/>
              </a:lnTo>
            </a:path>
          </a:pathLst>
        </a:custGeom>
        <a:noFill/>
        <a:ln w="9525" cap="rnd" cmpd="sng" algn="ctr">
          <a:solidFill>
            <a:schemeClr val="accent2">
              <a:hueOff val="453165"/>
              <a:satOff val="-47993"/>
              <a:lumOff val="-11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86722" y="2353104"/>
        <a:ext cx="19950" cy="3994"/>
      </dsp:txXfrm>
    </dsp:sp>
    <dsp:sp modelId="{EB6412AE-350B-43F2-A46A-BC492664203A}">
      <dsp:nvSpPr>
        <dsp:cNvPr id="0" name=""/>
        <dsp:cNvSpPr/>
      </dsp:nvSpPr>
      <dsp:spPr>
        <a:xfrm>
          <a:off x="4279422" y="1834641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396519"/>
                <a:satOff val="-41994"/>
                <a:lumOff val="-1029"/>
                <a:alphaOff val="0"/>
                <a:tint val="96000"/>
                <a:lumMod val="104000"/>
              </a:schemeClr>
            </a:gs>
            <a:gs pos="100000">
              <a:schemeClr val="accent2">
                <a:hueOff val="396519"/>
                <a:satOff val="-41994"/>
                <a:lumOff val="-1029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Productivity Enhancement:</a:t>
          </a:r>
          <a:r>
            <a:rPr lang="en-US" sz="1200" b="0" i="0" kern="1200" baseline="0" dirty="0"/>
            <a:t> </a:t>
          </a:r>
          <a:r>
            <a:rPr lang="en-US" sz="1200" b="0" i="0" kern="1200" baseline="0" dirty="0">
              <a:latin typeface="Abadi" panose="020B0604020104020204" pitchFamily="34" charset="0"/>
            </a:rPr>
            <a:t>Focus resources on high-priority issues to improve integration reliability.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4279422" y="1834641"/>
        <a:ext cx="1734865" cy="1040919"/>
      </dsp:txXfrm>
    </dsp:sp>
    <dsp:sp modelId="{04891B71-EF1C-4606-B475-6840D4796295}">
      <dsp:nvSpPr>
        <dsp:cNvPr id="0" name=""/>
        <dsp:cNvSpPr/>
      </dsp:nvSpPr>
      <dsp:spPr>
        <a:xfrm>
          <a:off x="6413307" y="1834641"/>
          <a:ext cx="1734865" cy="1040919"/>
        </a:xfrm>
        <a:prstGeom prst="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010" tIns="89233" rIns="85010" bIns="8923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dirty="0"/>
            <a:t>SMART Goal:</a:t>
          </a:r>
          <a:br>
            <a:rPr lang="en-US" sz="1200" b="0" i="0" kern="1200" baseline="0" dirty="0"/>
          </a:br>
          <a:r>
            <a:rPr lang="en-US" sz="1200" b="0" i="0" kern="1200" baseline="0" dirty="0">
              <a:latin typeface="Abadi" panose="020B0604020104020204" pitchFamily="34" charset="0"/>
            </a:rPr>
            <a:t>Specific, Measurable, Achievable, Relevant, Time-bound.</a:t>
          </a:r>
          <a:endParaRPr lang="en-US" sz="1200" kern="1200" dirty="0">
            <a:latin typeface="Abadi" panose="020B0604020104020204" pitchFamily="34" charset="0"/>
          </a:endParaRPr>
        </a:p>
      </dsp:txBody>
      <dsp:txXfrm>
        <a:off x="6413307" y="1834641"/>
        <a:ext cx="1734865" cy="1040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96C21-ED28-40D9-9C5D-31504D1477EA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65FF1-7E79-46B8-8207-D8815AD9D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8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65FF1-7E79-46B8-8207-D8815AD9D0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1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65FF1-7E79-46B8-8207-D8815AD9D0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3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4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0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2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7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12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9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2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7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8421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86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8337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2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37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32C9B-ECB3-4FE3-BD45-79AB99048D3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B7E5441-C60E-4304-A562-C0B3611A3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1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26F4-4ED5-01C1-4C80-86E33B5F4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049" y="400997"/>
            <a:ext cx="6687030" cy="311276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MINIMIZING INTEGRATION FAILURES THROUGH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FE68E-A765-FE09-13F0-26F661000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127" y="4243388"/>
            <a:ext cx="4072873" cy="2309102"/>
          </a:xfrm>
        </p:spPr>
        <p:txBody>
          <a:bodyPr anchor="ctr">
            <a:noAutofit/>
          </a:bodyPr>
          <a:lstStyle/>
          <a:p>
            <a:pPr algn="r"/>
            <a:r>
              <a:rPr lang="en-US" sz="3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AHIMA KAUL</a:t>
            </a:r>
          </a:p>
        </p:txBody>
      </p:sp>
    </p:spTree>
    <p:extLst>
      <p:ext uri="{BB962C8B-B14F-4D97-AF65-F5344CB8AC3E}">
        <p14:creationId xmlns:p14="http://schemas.microsoft.com/office/powerpoint/2010/main" val="2749520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011-713E-4F38-02C3-0D43C110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632" y="490546"/>
            <a:ext cx="6203147" cy="721805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82A541-B049-F0DB-46BD-D293F072EA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2314" y="1421027"/>
            <a:ext cx="8420643" cy="50827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Problem: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Our organization faces difficulties in managing multiple integration technologies (MuleSoft, BULK API,WORKDAY..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Etc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.), leading to: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An overwhelming number of daily alerts.</a:t>
            </a: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Challenges in identifying which alerts need immediate attention.</a:t>
            </a: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Persistent integration issues and inefficiencies.</a:t>
            </a: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Proposed Solution: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K Means clustering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 to analyze and categorize alerts, prioritizing the most critical issues for resolution.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Expected Impact: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Streamlined alert management</a:t>
            </a: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Reduced operational hours</a:t>
            </a:r>
          </a:p>
          <a:p>
            <a:pPr marL="400050" lvl="1" indent="0"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  <a:cs typeface="Times New Roman" panose="02020603050405020304" pitchFamily="18" charset="0"/>
              </a:rPr>
              <a:t>Increased productivity and performance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badi" panose="020B0604020104020204" pitchFamily="34" charset="0"/>
            </a:endParaRPr>
          </a:p>
        </p:txBody>
      </p:sp>
      <p:pic>
        <p:nvPicPr>
          <p:cNvPr id="45" name="Picture 44" descr="Magnifying glass showing decling performance">
            <a:extLst>
              <a:ext uri="{FF2B5EF4-FFF2-40B4-BE49-F238E27FC236}">
                <a16:creationId xmlns:a16="http://schemas.microsoft.com/office/drawing/2014/main" id="{EFA6BC35-9D8A-8405-B62D-FA5812FA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79" r="52042" b="-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3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3C85-C8EB-2D05-A7EA-FEE9A8F81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871" y="4912467"/>
            <a:ext cx="9765023" cy="110040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Work-Flow</a:t>
            </a:r>
          </a:p>
        </p:txBody>
      </p:sp>
      <p:graphicFrame>
        <p:nvGraphicFramePr>
          <p:cNvPr id="105" name="Rectangle 1">
            <a:extLst>
              <a:ext uri="{FF2B5EF4-FFF2-40B4-BE49-F238E27FC236}">
                <a16:creationId xmlns:a16="http://schemas.microsoft.com/office/drawing/2014/main" id="{748F93AE-184A-06B0-9939-7E4BD1E32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711935"/>
              </p:ext>
            </p:extLst>
          </p:nvPr>
        </p:nvGraphicFramePr>
        <p:xfrm>
          <a:off x="1551832" y="1081869"/>
          <a:ext cx="10293711" cy="3270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94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3" name="Rectangle 202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206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20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BB14683-24B3-A3BD-583F-961FF344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321" y="408455"/>
            <a:ext cx="6706581" cy="655723"/>
          </a:xfrm>
        </p:spPr>
        <p:txBody>
          <a:bodyPr>
            <a:normAutofit/>
          </a:bodyPr>
          <a:lstStyle/>
          <a:p>
            <a:r>
              <a:rPr lang="en-US" dirty="0"/>
              <a:t>Data Description &amp; Cleaning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5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711A8C6-EA4A-29B5-4D89-8182DB6928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66" r="2458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155" name="Rectangle 5">
            <a:extLst>
              <a:ext uri="{FF2B5EF4-FFF2-40B4-BE49-F238E27FC236}">
                <a16:creationId xmlns:a16="http://schemas.microsoft.com/office/drawing/2014/main" id="{50483B9D-E3C6-4AFC-E6BA-8AA276631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7813" y="2498732"/>
            <a:ext cx="8009450" cy="42233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Abadi" panose="020B0604020104020204" pitchFamily="34" charset="0"/>
              </a:rPr>
              <a:t>Data Sources:</a:t>
            </a:r>
            <a:b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Internal alert data of Integration errors.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Data Collection: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Abadi" panose="020B0604020104020204" pitchFamily="34" charset="0"/>
              </a:rPr>
              <a:t>Dataset: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Error_Details.csv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Data Cleaning: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Preprocess data for analysis.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Renamed inconsistent column names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Handled missing values (NaN → np.nan)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Converted categorical features to category dtype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Converted date → timestamp for time-based analysis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Selected numerical features: Error Count, User Impact, Response Time, Timestamp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Standardized using StandardScaler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Prepared X (features) and y (target) for modeling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2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Abadi" panose="020B0604020104020204" pitchFamily="34" charset="0"/>
              </a:rPr>
              <a:t>Target variable (y):</a:t>
            </a: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FAULT_SEVERITY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Abadi" panose="020B0604020104020204" pitchFamily="34" charset="0"/>
              </a:rPr>
              <a:t>Feature variables (X):</a:t>
            </a:r>
            <a:r>
              <a:rPr lang="en-US" alt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ERROR_COUNT, USER_IMPACT, RESPONSE_TIME, CREATION_TIMESTAMP…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Clustering: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Apply K Means algorithm in Python to identify critical patterns.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Abadi" panose="020B0604020104020204" pitchFamily="34" charset="0"/>
              </a:rPr>
              <a:t>Visualization: </a:t>
            </a:r>
            <a:r>
              <a:rPr lang="en-US" sz="1200" dirty="0">
                <a:latin typeface="Abadi" panose="020B0604020104020204" pitchFamily="34" charset="0"/>
              </a:rPr>
              <a:t>Generate interactive graphs to visualize critical alerts</a:t>
            </a:r>
            <a:endParaRPr lang="en-US" altLang="en-US" sz="1200" b="1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Pie Chart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Bar Graph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Line Graph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238924-018B-770D-D05E-DD31F4E97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31018"/>
              </p:ext>
            </p:extLst>
          </p:nvPr>
        </p:nvGraphicFramePr>
        <p:xfrm>
          <a:off x="3510583" y="1521165"/>
          <a:ext cx="8609422" cy="7566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60942">
                  <a:extLst>
                    <a:ext uri="{9D8B030D-6E8A-4147-A177-3AD203B41FA5}">
                      <a16:colId xmlns:a16="http://schemas.microsoft.com/office/drawing/2014/main" val="319621348"/>
                    </a:ext>
                  </a:extLst>
                </a:gridCol>
                <a:gridCol w="860942">
                  <a:extLst>
                    <a:ext uri="{9D8B030D-6E8A-4147-A177-3AD203B41FA5}">
                      <a16:colId xmlns:a16="http://schemas.microsoft.com/office/drawing/2014/main" val="3116460611"/>
                    </a:ext>
                  </a:extLst>
                </a:gridCol>
                <a:gridCol w="860942">
                  <a:extLst>
                    <a:ext uri="{9D8B030D-6E8A-4147-A177-3AD203B41FA5}">
                      <a16:colId xmlns:a16="http://schemas.microsoft.com/office/drawing/2014/main" val="373335380"/>
                    </a:ext>
                  </a:extLst>
                </a:gridCol>
                <a:gridCol w="890530">
                  <a:extLst>
                    <a:ext uri="{9D8B030D-6E8A-4147-A177-3AD203B41FA5}">
                      <a16:colId xmlns:a16="http://schemas.microsoft.com/office/drawing/2014/main" val="2218730278"/>
                    </a:ext>
                  </a:extLst>
                </a:gridCol>
                <a:gridCol w="798846">
                  <a:extLst>
                    <a:ext uri="{9D8B030D-6E8A-4147-A177-3AD203B41FA5}">
                      <a16:colId xmlns:a16="http://schemas.microsoft.com/office/drawing/2014/main" val="1907709953"/>
                    </a:ext>
                  </a:extLst>
                </a:gridCol>
                <a:gridCol w="893451">
                  <a:extLst>
                    <a:ext uri="{9D8B030D-6E8A-4147-A177-3AD203B41FA5}">
                      <a16:colId xmlns:a16="http://schemas.microsoft.com/office/drawing/2014/main" val="1894605953"/>
                    </a:ext>
                  </a:extLst>
                </a:gridCol>
                <a:gridCol w="721336">
                  <a:extLst>
                    <a:ext uri="{9D8B030D-6E8A-4147-A177-3AD203B41FA5}">
                      <a16:colId xmlns:a16="http://schemas.microsoft.com/office/drawing/2014/main" val="1276000163"/>
                    </a:ext>
                  </a:extLst>
                </a:gridCol>
                <a:gridCol w="1000549">
                  <a:extLst>
                    <a:ext uri="{9D8B030D-6E8A-4147-A177-3AD203B41FA5}">
                      <a16:colId xmlns:a16="http://schemas.microsoft.com/office/drawing/2014/main" val="2152488723"/>
                    </a:ext>
                  </a:extLst>
                </a:gridCol>
                <a:gridCol w="807486">
                  <a:extLst>
                    <a:ext uri="{9D8B030D-6E8A-4147-A177-3AD203B41FA5}">
                      <a16:colId xmlns:a16="http://schemas.microsoft.com/office/drawing/2014/main" val="3895073463"/>
                    </a:ext>
                  </a:extLst>
                </a:gridCol>
                <a:gridCol w="914398">
                  <a:extLst>
                    <a:ext uri="{9D8B030D-6E8A-4147-A177-3AD203B41FA5}">
                      <a16:colId xmlns:a16="http://schemas.microsoft.com/office/drawing/2014/main" val="1795266225"/>
                    </a:ext>
                  </a:extLst>
                </a:gridCol>
              </a:tblGrid>
              <a:tr h="756612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APP NAME</a:t>
                      </a:r>
                      <a:endParaRPr lang="en-US" sz="105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ERROR TYPE</a:t>
                      </a:r>
                      <a:endParaRPr lang="en-US" sz="105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CREATION DATE TIME</a:t>
                      </a:r>
                      <a:endParaRPr lang="en-US" sz="105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FAULT SEVERITY</a:t>
                      </a:r>
                      <a:endParaRPr lang="en-US" sz="105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ERROR COUNT</a:t>
                      </a:r>
                      <a:endParaRPr lang="en-US" sz="105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COMPANY</a:t>
                      </a:r>
                      <a:endParaRPr lang="en-US" sz="105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50" b="1" dirty="0">
                          <a:latin typeface="+mj-lt"/>
                          <a:cs typeface="Times New Roman" panose="02020603050405020304" pitchFamily="18" charset="0"/>
                        </a:rPr>
                        <a:t>USER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+mj-lt"/>
                          <a:cs typeface="Times New Roman" panose="02020603050405020304" pitchFamily="18" charset="0"/>
                        </a:rPr>
                        <a:t>BUSINESS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+mj-lt"/>
                          <a:cs typeface="Times New Roman" panose="02020603050405020304" pitchFamily="18" charset="0"/>
                        </a:rPr>
                        <a:t>REVENUE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+mj-lt"/>
                          <a:cs typeface="Times New Roman" panose="02020603050405020304" pitchFamily="18" charset="0"/>
                        </a:rPr>
                        <a:t>RESPONSE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8537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7464BF0-F1C0-9F93-83E7-149CEF292E37}"/>
              </a:ext>
            </a:extLst>
          </p:cNvPr>
          <p:cNvSpPr txBox="1"/>
          <p:nvPr/>
        </p:nvSpPr>
        <p:spPr>
          <a:xfrm>
            <a:off x="4327212" y="1073402"/>
            <a:ext cx="1279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latin typeface="Abadi" panose="020B0604020104020204" pitchFamily="34" charset="0"/>
              </a:rPr>
              <a:t>Predictors: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0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F8DDD-79BD-F939-0BCF-7356DADB2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11" r="3774"/>
          <a:stretch/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148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91A76-F181-3FD1-9DAD-628B4E63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EFFFF"/>
                </a:solidFill>
              </a:rPr>
              <a:t>K Means Clustering Process</a:t>
            </a:r>
          </a:p>
        </p:txBody>
      </p:sp>
      <p:sp>
        <p:nvSpPr>
          <p:cNvPr id="149" name="Rectangle 1">
            <a:extLst>
              <a:ext uri="{FF2B5EF4-FFF2-40B4-BE49-F238E27FC236}">
                <a16:creationId xmlns:a16="http://schemas.microsoft.com/office/drawing/2014/main" id="{ED193287-2B26-75C8-67AD-541B3E4BD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866" y="2032000"/>
            <a:ext cx="7461703" cy="44920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Purpose: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K Means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 algorithm groups alerts based on similarities like error type, severity, and integration names.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EFFFF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Steps: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EFFFF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Apply Clustering: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 Group alerts into clusters using key features (e.g., error type, severity, integration).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Analyze Clusters: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 Identify critical patterns based on the frequency and severity of errors.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EFFFF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Results: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EFFFF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Top Integrations Identified: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 Highlight integrations generating the most alerts.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Problematic Integrations: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EFFFF"/>
                </a:solidFill>
                <a:effectLst/>
                <a:latin typeface="Abadi" panose="020B0604020104020204" pitchFamily="34" charset="0"/>
              </a:rPr>
              <a:t> Pinpoint systems requiring immediate attention for resolution.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D9F90"/>
              </a:buClr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E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080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2799EF-BC3B-8D31-C39C-47ED8014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78" b="22731"/>
          <a:stretch/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58107-C1E7-418A-B86C-87982D2B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45" y="228600"/>
            <a:ext cx="4623955" cy="9940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Proposed Methodology:</a:t>
            </a:r>
            <a:br>
              <a:rPr lang="en-US" sz="2800" dirty="0"/>
            </a:br>
            <a:r>
              <a:rPr lang="en-US" sz="2800" dirty="0"/>
              <a:t>Model Selection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0726D-82CC-449E-4CBB-A04430E6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645" y="1222625"/>
            <a:ext cx="6208793" cy="54067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Step 1: Models Trained</a:t>
            </a:r>
          </a:p>
          <a:p>
            <a:pPr marL="685800" lvl="1"/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Random Forest</a:t>
            </a: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</a:p>
          <a:p>
            <a:pPr marL="685800" lvl="1"/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Logistic Regression</a:t>
            </a: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</a:p>
          <a:p>
            <a:pPr marL="685800" lvl="1"/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Decision Tree</a:t>
            </a: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endParaRPr lang="en-US" sz="1400" b="1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400050" lvl="1" indent="0">
              <a:buNone/>
            </a:pPr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Model Performance Metrics evaluated:</a:t>
            </a: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 Accuracy, F1-score </a:t>
            </a:r>
            <a:b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Random Forest </a:t>
            </a: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→ Best performance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Step 2:  K Means Clustering</a:t>
            </a:r>
          </a:p>
          <a:p>
            <a:pPr marL="457200" lvl="1" indent="0" fontAlgn="base">
              <a:lnSpc>
                <a:spcPct val="90000"/>
              </a:lnSpc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Applied K-Means to group similar alerts and detect problematic integrations</a:t>
            </a:r>
          </a:p>
          <a:p>
            <a:pPr marL="457200" lvl="1" indent="0" fontAlgn="base">
              <a:lnSpc>
                <a:spcPct val="90000"/>
              </a:lnSpc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Tested clusters with k = 2 to 6</a:t>
            </a:r>
          </a:p>
          <a:p>
            <a:pPr marL="457200" lvl="1" indent="0" fontAlgn="base">
              <a:lnSpc>
                <a:spcPct val="90000"/>
              </a:lnSpc>
              <a:buNone/>
            </a:pPr>
            <a:r>
              <a:rPr lang="en-US" alt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Selected optimal k using silhouette score</a:t>
            </a:r>
          </a:p>
          <a:p>
            <a:pPr marL="457200" lvl="1" indent="0" fontAlgn="base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Cluster assignments added to dataset → Generated &amp; exported to </a:t>
            </a:r>
            <a:r>
              <a:rPr lang="en-US" sz="1400" b="1" dirty="0" err="1">
                <a:solidFill>
                  <a:schemeClr val="tx1"/>
                </a:solidFill>
                <a:latin typeface="Abadi" panose="020B0604020104020204" pitchFamily="34" charset="0"/>
              </a:rPr>
              <a:t>analysis_results.xlsx</a:t>
            </a:r>
            <a:endParaRPr lang="en-US" altLang="en-US" sz="1400" b="1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Abadi" panose="020B0604020104020204" pitchFamily="34" charset="0"/>
              </a:rPr>
              <a:t>Step 3. Visualization</a:t>
            </a:r>
            <a:endParaRPr lang="en-US" sz="14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Pie Chart: Error distribution of Top 10 applications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Bar graph: Plotting distribution of fault severity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Line Grap: Daily Error Trends over the week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Abadi" panose="020B06040201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270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65CD-0538-52C1-FBC8-180A186A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896" y="624110"/>
            <a:ext cx="3088685" cy="776162"/>
          </a:xfrm>
        </p:spPr>
        <p:txBody>
          <a:bodyPr/>
          <a:lstStyle/>
          <a:p>
            <a:r>
              <a:rPr lang="en-US" b="1" dirty="0"/>
              <a:t>SMART Goal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BF7545-C6F2-D8BD-1CA1-E6D4DE2E27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4850" y="1279733"/>
            <a:ext cx="7602749" cy="5406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S</a:t>
            </a:r>
            <a:r>
              <a:rPr lang="en-US" sz="1400" b="1" dirty="0"/>
              <a:t>pecific: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Analyze application error logs, predict fault severity, and group similar alerts using machine learning and clustering techniques.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M</a:t>
            </a:r>
            <a:r>
              <a:rPr lang="en-US" sz="1400" b="1" dirty="0"/>
              <a:t>easurable: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Achieve </a:t>
            </a:r>
            <a:r>
              <a:rPr lang="en-US" sz="1400" b="1" dirty="0">
                <a:solidFill>
                  <a:schemeClr val="tx1"/>
                </a:solidFill>
              </a:rPr>
              <a:t>≥85% accuracy</a:t>
            </a:r>
            <a:r>
              <a:rPr lang="en-US" sz="1400" dirty="0">
                <a:solidFill>
                  <a:schemeClr val="tx1"/>
                </a:solidFill>
              </a:rPr>
              <a:t> in predicting fault severity with this Model.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</a:t>
            </a:r>
            <a:r>
              <a:rPr lang="en-US" sz="1400" b="1" dirty="0">
                <a:solidFill>
                  <a:schemeClr val="tx1"/>
                </a:solidFill>
              </a:rPr>
              <a:t>comprehensive Excel reports</a:t>
            </a:r>
            <a:r>
              <a:rPr lang="en-US" sz="1400" dirty="0">
                <a:solidFill>
                  <a:schemeClr val="tx1"/>
                </a:solidFill>
              </a:rPr>
              <a:t> and visualizations for top error-prone applications and clusters.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A</a:t>
            </a:r>
            <a:r>
              <a:rPr lang="en-US" sz="1400" b="1" dirty="0"/>
              <a:t>chievable: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Leverage existing datasets (Error_Details.csv) and apply preprocessing, feature engineering, ML models, and K-Means clustering</a:t>
            </a:r>
            <a:r>
              <a:rPr lang="en-US" sz="1400" dirty="0"/>
              <a:t>.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R</a:t>
            </a:r>
            <a:r>
              <a:rPr lang="en-US" sz="1400" b="1" dirty="0"/>
              <a:t>elevant: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Supports proactive monitoring, reduces downtime, and improves prioritization of critical errors in business applications.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T</a:t>
            </a:r>
            <a:r>
              <a:rPr lang="en-US" sz="1400" b="1" dirty="0"/>
              <a:t>ime-bound: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 data analysis, model training, clustering, and report generation </a:t>
            </a:r>
            <a:r>
              <a:rPr lang="en-US" sz="1400" b="1" dirty="0">
                <a:solidFill>
                  <a:schemeClr val="tx1"/>
                </a:solidFill>
              </a:rPr>
              <a:t>within 4 weeks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9E877-85AF-E3ED-CF48-D88D0B85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84934" y="1545526"/>
            <a:ext cx="4140486" cy="53124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6287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834D-1EF7-A449-EAEA-2CD946D7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596" y="498941"/>
            <a:ext cx="8792234" cy="528637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 &amp; Expected Outcome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6A75F6-1F52-82C7-E660-52C23FF05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5596" y="1342301"/>
            <a:ext cx="991585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Summary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The project aims to optimize integration alert management by using K Means clustering to prioritize critical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Expected Outcomes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Improved efficiency in identifying and addressing the most pressing integration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Reduced operational hours and enhanced overall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Actionable insights provided through Charts and dashboards.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Long-Term Benefits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More effective use of resources and faster resolution of critical integration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Future Work</a:t>
            </a:r>
            <a:endParaRPr lang="en-US" altLang="en-US" sz="20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badi" panose="020B0604020104020204" pitchFamily="34" charset="0"/>
              </a:rPr>
              <a:t>Gather user feedback to improve the clustering model.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badi" panose="020B0604020104020204" pitchFamily="34" charset="0"/>
              </a:rPr>
              <a:t>Implement real-time data analysis and monitoring.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badi" panose="020B0604020104020204" pitchFamily="34" charset="0"/>
              </a:rPr>
              <a:t>Enhance reporting features and predictive analytics in the future.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7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627D8-E5B9-9055-17FD-1545355C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881" y="2938410"/>
            <a:ext cx="9819650" cy="16027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>
                <a:latin typeface="Algerian" panose="04020705040A02060702" pitchFamily="82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6644979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4905</TotalTime>
  <Words>777</Words>
  <Application>Microsoft Macintosh PowerPoint</Application>
  <PresentationFormat>Widescreen</PresentationFormat>
  <Paragraphs>117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Abadi</vt:lpstr>
      <vt:lpstr>Algerian</vt:lpstr>
      <vt:lpstr>Aptos</vt:lpstr>
      <vt:lpstr>Arial</vt:lpstr>
      <vt:lpstr>Century Gothic</vt:lpstr>
      <vt:lpstr>Times New Roman</vt:lpstr>
      <vt:lpstr>Wingdings 3</vt:lpstr>
      <vt:lpstr>Wisp</vt:lpstr>
      <vt:lpstr>MINIMIZING INTEGRATION FAILURES THROUGH CLUSTERING</vt:lpstr>
      <vt:lpstr>Problem Statement</vt:lpstr>
      <vt:lpstr>Work-Flow</vt:lpstr>
      <vt:lpstr>Data Description &amp; Cleaning</vt:lpstr>
      <vt:lpstr>K Means Clustering Process</vt:lpstr>
      <vt:lpstr>Proposed Methodology: Model Selection</vt:lpstr>
      <vt:lpstr>SMART Goal</vt:lpstr>
      <vt:lpstr>Conclusion &amp; Expected Outcome</vt:lpstr>
      <vt:lpstr>PowerPoint Presentation</vt:lpstr>
    </vt:vector>
  </TitlesOfParts>
  <Company>Emerson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Chawla, Priyanka [EMR/ENT/IT/MOHA]</dc:creator>
  <cp:lastModifiedBy>Ahima Kaul</cp:lastModifiedBy>
  <cp:revision>6</cp:revision>
  <dcterms:created xsi:type="dcterms:W3CDTF">2024-11-14T14:06:33Z</dcterms:created>
  <dcterms:modified xsi:type="dcterms:W3CDTF">2026-03-01T23:00:38Z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2024-11-14T14:35:58Z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98d2f3f8-5221-4da3-8116-ca34a19e1a1f</vt:lpwstr>
  </property>
  <property fmtid="{D5CDD505-2E9C-101B-9397-08002B2CF9AE}" pid="8" name="MSIP_Label_d38901aa-f724-46bf-bb4f-aef09392934b_ContentBits">
    <vt:lpwstr>0</vt:lpwstr>
  </property>
</Properties>
</file>